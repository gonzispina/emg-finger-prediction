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87722"/>
                </a:solidFill>
              </a:rPr>
              <a:t>▶  TEASER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65760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insertar video: brazo + visualize.py en pantalla dividida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0"/>
            <a:ext cx="1146017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EMG → Predicción de velocidad de dedos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840480"/>
            <a:ext cx="114601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7722"/>
                </a:solidFill>
              </a:rPr>
              <a:t>Pipeline de adquisición, procesamiento y modelo TCN causal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Análisis de Señales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1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Motivación y objetivo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Un sistema para controlar una mano robótica con señales del propio músculo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La señal EMG del antebrazo contiene información sobre qué músculo se activa y con qué intensidad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Objetivo: capturar esas señales y usarlas para controlar una mano robótica protésica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proyecto se divide naturalmente en dos partes: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Parte 1 (esta presentación): adquisición + procesamiento + predictor de velocidad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Parte 2 (trabajo futuro): controlador + construcción de la mano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6 meses de desarrollo iterativo, 1 sujeto, antebrazo derecho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00584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[ diagrama de bloques: Brazo → Electrodos → ADC → Procesamiento → Modelo TCN → Controlador → Mano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¿Por qué EMG?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583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La señal EMG precede al movimiento: el músculo se activa ~100–250ms antes de que el dedo se mueva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Capturables de forma no invasiva con electrodos de superficie en el antebrazo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Contiene información de dirección (flexión vs extensión) y magnitud del esfuerzo muscular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Articulación MCP (metacarpofalángica): controlada por flexor digitorum + extensor digitorum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Placement: 2 electrodos diferencial sobre el flexor + 2 sobre el extensor</a:t>
            </a:r>
          </a:p>
        </p:txBody>
      </p:sp>
      <p:pic>
        <p:nvPicPr>
          <p:cNvPr id="5" name="Picture 4" descr="IMG_26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70713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2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Fundamentos fisiológicos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Origen fisiológico del EMG de superficie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7315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Potencial de placa motora (EPP): motoneurona libera acetilcolina → despolarización de la fibra muscular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Componente aleatoria (MEPP): liberación espontánea de vesículas → ruido de fondo fisiológico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Períodos refractarios: limitan la frecuencia de activación de cada fibra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sEMG = suma espaciotemporal de cientos de MUAPs (Motor Unit Action Potentials)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Resultado: señal estocástica, banda 20–500 Hz, no determinística pero predecible en promedio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4206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[ diagrama: motoneurona → MUAP → suma espacial → sEMG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Espectro EMG: ¿qué frecuencias necesitamos capturar?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EMG de superficie tiene energía concentrada entre 20–500 Hz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Pico de energía entre 50–150 Hz — donde se concentra la información útil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Teorema de Nyquist: fs ≥ 2 × fmax → necesitamos al menos 1000 Hz para capturar todo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Nuestro setup: 638 Hz → Nyquist = 319 Hz — captura la mayor parte de la energía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filtro pasa banda 70–300 Hz captura exactamente esta región de interés</a:t>
            </a:r>
          </a:p>
        </p:txBody>
      </p:sp>
      <p:pic>
        <p:nvPicPr>
          <p:cNvPr id="5" name="Picture 4" descr="emg_p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486400" cy="2721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3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Hardware v1: Arduino + EXG Pills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Primera iteración: Arduino Uno + EXG Pills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Arduino Uno: 6 canales ADC, 10 bits (1,024 niveles), ~605 Hz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EXG Pills (Upside Down Labs): amplificador diferencial para bioseñales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Configuración clave: vienen para EEG → cambio de resistencias para EMG (mayor ganancia, banda más alta)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2 joysticks como ground truth de posición del dedo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Limitación principal: 6 canales ADC insuficientes para 2 dedos (necesitamos 4 mínimo)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Primera limitación secundaria: resolución 10-bit limita la SNR disponible</a:t>
            </a:r>
          </a:p>
        </p:txBody>
      </p:sp>
      <p:pic>
        <p:nvPicPr>
          <p:cNvPr id="5" name="Picture 4" descr="IMG_26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914400"/>
            <a:ext cx="5212080" cy="390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10-bit vs 24-bit: la resolución de cuantización importa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Arduino 10-bit: 1,024 niveles → escalera de cuantización visible en el zoom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ADS1256 24-bit: 16,777,216 niveles → señal continua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La cuantización introduce ruido de piso que limita la SNR del canal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Diferencia de ~14 bits = factor 16,384× en resolución</a:t>
            </a:r>
          </a:p>
        </p:txBody>
      </p:sp>
      <p:pic>
        <p:nvPicPr>
          <p:cNvPr id="5" name="Picture 4" descr="arduino_vs_ads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11460175" cy="48777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4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Exploración y análisis de señal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Interferencia de red eléctrica: 50 Hz y sus armónicos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Señal EMG cruda con laptop enchufada: picos dominantes cada 50 Hz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Armónicos en 100, 150, 200, 250, 300 Hz → contaminan toda la banda EMG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Opción descartada: filtro Notch en 50 Hz → elimina señal fisiológica real en esa banda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Decisión: desenchufar la laptop y usar batería → armónicos desaparecen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Bajo costo, alto impacto — cambio de protocolo, no de hardware</a:t>
            </a:r>
          </a:p>
        </p:txBody>
      </p:sp>
      <p:pic>
        <p:nvPicPr>
          <p:cNvPr id="5" name="Picture 4" descr="fft_noise_ads_plug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0"/>
            <a:ext cx="11460175" cy="51378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Filtro pasa banda Butterworth 70–300 Hz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Corte inferior 70 Hz: elimina el 50 Hz residual sin Notch, preserva la energía EMG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Corte superior 300 Hz: Nyquist del setup (638 Hz / 2)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Butterworth orden 4: respuesta plana en la banda de paso, rolloff suave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Offline (análisis): filtfilt → zero-phase, sin delay — NO causal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Online (deployment): sosfilt → causal, con delay propio del IIR — aceptable porque features y target comparten el mismo delay</a:t>
            </a:r>
          </a:p>
        </p:txBody>
      </p:sp>
      <p:pic>
        <p:nvPicPr>
          <p:cNvPr id="5" name="Picture 4" descr="filt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754880"/>
            <a:ext cx="11460175" cy="76257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Onset detection: ¿la señal EMG anticipa al movimiento?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Método: envolvente Butterworth LP 1Hz bidireccional (offline) — más suave que RMS, sin delay artificial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Umbral local por movimiento: baseline = mediana de 300ms antes de la ventana de búsqueda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Ventana búsqueda: 600ms (extensión) / 500ms (flexión) antes del onset del joystick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Resultado: EMG precede al joystick en todos los movimientos → causalidad confirmada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168 onsets válidos en S02+S03, tareas fast_ext y fast_flex</a:t>
            </a:r>
          </a:p>
        </p:txBody>
      </p:sp>
      <p:pic>
        <p:nvPicPr>
          <p:cNvPr id="5" name="Picture 4" descr="on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49039"/>
            <a:ext cx="11460175" cy="346291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Distribución de delays: dos patrones distintos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Extensión (fast_ext): mediana=263ms, P95=567ms — cola larga, distribución tipo Pareto shape bajo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Causa: requiere inhibición del flexor + activación del extensor compartido → timing variable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Flexión (fast_flex): mediana=250ms, P95=313ms — más concentrada, shape mayor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Causa: flexor digitorum es el agonista directo → activación más predecible y consistente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Esta asimetría refleja la fisiología del control motor, no es ruido del detector</a:t>
            </a:r>
          </a:p>
        </p:txBody>
      </p:sp>
      <p:pic>
        <p:nvPicPr>
          <p:cNvPr id="5" name="Picture 4" descr="onset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11460175" cy="43922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Del onset al Receptive Field del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modelo necesita ver suficiente historia para capturar el onset antes del movimiento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P95 de extensión = 567ms → RF mínimo necesario ≈ 400–600ms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Decisión: RF = 243 samples × (1/605 Hz) ≈ 401ms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Implementado con dilaciones [1, 3, 9, 27, 81] → cubre cada escala sin redundancia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Trade-off: cubre el 95% de los onsets de flexión y ~80% de extensión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297680"/>
            <a:ext cx="11460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8888"/>
                </a:solidFill>
              </a:rPr>
              <a:t>[ diagrama: ventana deslizante de 243 samples → RF = 401ms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Selección de envolvente: RMS causal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Comparación: |señal| + LP  vs  Butterworth LP  vs  RMS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RMS elegido: robusto, interpretable como energía instantánea, implementable online (causal)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Dos escalas: RMS rápido (40ms) captura onsets / RMS lento (150ms) captura tendencia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Normalización EMA (τ=1s): rms_norm = rms / ema → unidades de 'veces el baseline reciente'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Butterworth LP 1Hz bidireccional queda solo para análisis offline (onset detection)</a:t>
            </a:r>
          </a:p>
        </p:txBody>
      </p:sp>
      <p:pic>
        <p:nvPicPr>
          <p:cNvPr id="5" name="Picture 4" descr="envelop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49039"/>
            <a:ext cx="11460175" cy="34629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Sigma del target: el cuello de botella estaba en el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σ=150ms aplanaba los picos rápidos más que los lentos → invertía la amplitud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fast_flex σ=150: std=470  /  slow_flex σ=150: std=575 → ¡movimientos rápidos parecen más chicos!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modelo aprendía que extensiones rápidas tienen menos amplitud que las lentas — falso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Cambio σ=150ms → σ=50ms: +0.083 R² sin tocar arquitectura ni features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σ=50ms: sweet spot — preserva picos rápidos, suaviza ruido de quantización del joystick</a:t>
            </a:r>
          </a:p>
        </p:txBody>
      </p:sp>
      <p:pic>
        <p:nvPicPr>
          <p:cNvPr id="5" name="Picture 4" descr="target_sigm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11460175" cy="73324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5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Setup experimental y ground truth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Joystick dual: capturando la articulación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Objetivo: medir flexión/extensión de la articulación MCP del dedo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Setup: dos joysticks alineados verticalmente, dedo entre ambos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Extensión → empuja joystick superior; Flexión → empuja joystick inferior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Unificación: normalizar + ×(±1) según dirección + suma → 1 señal de posición continua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Problema de los joysticks a resorte: F_músculo = F_resorte durante holds → vel=0 con EMG activo</a:t>
            </a:r>
          </a:p>
        </p:txBody>
      </p:sp>
      <p:pic>
        <p:nvPicPr>
          <p:cNvPr id="5" name="Picture 4" descr="IMG_5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Protocolo de sesión: 11 tareas, ~20 minutos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</a:rPr>
              <a:t>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051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</a:rPr>
              <a:t>Dur.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0515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722"/>
                </a:solidFill>
              </a:rPr>
              <a:t>Descripción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rest_baseline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371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90s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Mano relajada, sin contracción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470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slow_flex / 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4708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120s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470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Movimiento lento (~3s) + suelta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225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slow_cycles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2257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150s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225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Ciclos continuos flex↔ext a 0.25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980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fast_flex / 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98064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90s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9806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Movimiento rápido + pausa 2s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2735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holds_intermediate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735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150s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735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Mantener posición al 25/50/75%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7490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microcorrections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749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120s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749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Oscilaciones de 5–10% del rango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22452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noise_*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224528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100s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2452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Otros dedos/muñeca — negativos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70001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free_controlled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4700016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70s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70001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Movimiento libre cubriendo todo el rango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6 sesiones (S02–S07), variación de placement entre sesiones</a:t>
            </a:r>
          </a:p>
        </p:txBody>
      </p:sp>
      <p:pic>
        <p:nvPicPr>
          <p:cNvPr id="32" name="Picture 31" descr="IMG_5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14400"/>
            <a:ext cx="356616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Cross-correlación: cuantificando el adelanto del EMG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Cross-correlación entre envolvente EMG (BP 70-300Hz, LP 2Hz) y posición del joystick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Pico de correlación en lag = −162ms → EMG adelanta al joystick 162ms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Pearson en lag óptimo = 0.705 (señal de movimiento libre S02+S03)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 compensación temporal: las señales se alinean visualmente</a:t>
            </a:r>
          </a:p>
        </p:txBody>
      </p:sp>
      <p:pic>
        <p:nvPicPr>
          <p:cNvPr id="5" name="Picture 4" descr="crosscor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5852160" cy="3566160"/>
          </a:xfrm>
          <a:prstGeom prst="rect">
            <a:avLst/>
          </a:prstGeom>
        </p:spPr>
      </p:pic>
      <p:pic>
        <p:nvPicPr>
          <p:cNvPr id="6" name="Picture 5" descr="crosscorr_alig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017520"/>
            <a:ext cx="58521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6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Hardware v2: ESP32 + ADS1256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Upgrade: ESP32 + ADS1256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722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722"/>
                </a:solidFill>
              </a:rPr>
              <a:t>Arduino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051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722"/>
                </a:solidFill>
              </a:rPr>
              <a:t>ESP32 + ADS1256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087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10-bit (1,024 niv.)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24-bit (16.7M niv.)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8424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Canales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84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6 analógicos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84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8 diferenciales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5973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fs (4ch)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597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~605 Hz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4597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~638 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93522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Baud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9352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230,400 bps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352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2,000,000 bps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1071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4107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4107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4048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Round-robin 4 canales: 2 por dedo (flexor + extensor)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PGA ajustable: ganancia diferente para flexor (mayor activación) y extensor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• Overflow t_micros (uint32) cada ~71.5 min → unwrap implementado</a:t>
            </a:r>
          </a:p>
        </p:txBody>
      </p:sp>
      <p:pic>
        <p:nvPicPr>
          <p:cNvPr id="23" name="Picture 22" descr="IMG_5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914400"/>
            <a:ext cx="3931920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Ruido espurio del ADS1256: lección aprendida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ADS1256 captura más que el Arduino: también el ruido del entorno electrónico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Análisis espectral: el ruido es broadband y bursty — NO son armónicos de 50Hz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Causas probables: configuración single-ended vs AINCOM, SPI de alta velocidad cerca del analógico, breadboard sin plano de tierra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Lección: más bits de resolución ≠ mejor SNR sin un buen front-end analógico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Solución estructural: PCB dedicada con plano de tierra + alimentación separada analógico/digital</a:t>
            </a:r>
          </a:p>
        </p:txBody>
      </p:sp>
      <p:pic>
        <p:nvPicPr>
          <p:cNvPr id="5" name="Picture 4" descr="spectra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11460175" cy="650234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7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Pipeline de procesamiento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Pipeline de features EMG — todo causal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Señal cruda (ADC 24-bit)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727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DC removal  (centrado en 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396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Butterworth pasa banda 70–300 Hz  (causal, sosfilt orden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0662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|Rectificada|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7355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RMS rápido (40ms)  +  RMS lento (150ms)  — ventana rectangular 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840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EMA normalization τ=1s:  rms_norm = rms / 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40740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Derivadas causales (backward diff)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7433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Z-norm por canal (median/MAD, stats de train solamente)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54126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7722"/>
                </a:solidFill>
              </a:rPr>
              <a:t>→  8 features × 2 canales = 16 inputs al modelo</a:t>
            </a:r>
          </a:p>
        </p:txBody>
      </p:sp>
      <p:pic>
        <p:nvPicPr>
          <p:cNvPr id="13" name="Picture 12" descr="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4846320" cy="427739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Pipeline del target — velocidad normalizada del dedo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Posición joystick cruda (ADC)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6420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Inversión + centrado:  −y + offset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2257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Gaussiano 1D (σ=50ms)  — solo offline, no causal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8094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Unificación dual:  joy_top + joy_bottom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393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Derivada numérica  →  velocidad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90D9"/>
                </a:solidFill>
              </a:rPr>
              <a:t>↓  Normalización p99:  target = vel / p99(|vel|)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5604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7722"/>
                </a:solidFill>
              </a:rPr>
              <a:t>→  Target ∈ [−1.8, +1.8], std ≈ 0.31</a:t>
            </a:r>
          </a:p>
        </p:txBody>
      </p:sp>
      <p:pic>
        <p:nvPicPr>
          <p:cNvPr id="11" name="Picture 10" descr="target_sigm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0"/>
            <a:ext cx="4846320" cy="31007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8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Modelo predictivo: TCN causal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Temporal Convolutional Network causal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TCN: convoluciones dilatadas + causalidad explícita → deployable en tiempo real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Chomp1d: recorta el padding derecho → garantiza que el output no vea el futuro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Dilaciones [1, 3, 9, 27, 81]: cubren RF = 243 samples = 401ms sin redundancia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2 bloques residuales + 1 conv final + head 1×1 → solo 13,025 parámetros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Verificación empírica de causalidad: perturbar samples fuera del RF → Δy = 0.000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Causal = misma arquitectura para offline y online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[ diagrama: TCN con dilaciones 1→3→9→27→81, RF=243 samples 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Entrenamiento: el cap de R²=0.61 era del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Split estratificado por task-block: cada task aporta su 20% final a val — sin leakage del RF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Loss: Huber δ=1.0 — cuadrática en errores pequeños, lineal en picos extremos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Journey de regularización: TVD (colapso) → Adaptive TV/Perona-Malik (descartado) → Sobolev H¹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CCCCCC"/>
                </a:solidFill>
              </a:rPr>
              <a:t>  – L_accel = Σ(Δpred − Δtarget)² → supervisión directa de la derivada del target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σ=150ms invertía la amplitud fast/slow → cambiar a σ=50ms: +0.083 R² sin tocar el modelo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WN+MPS=NaN / bug eval mode → workarounds implementados</a:t>
            </a:r>
          </a:p>
        </p:txBody>
      </p:sp>
      <p:pic>
        <p:nvPicPr>
          <p:cNvPr id="5" name="Picture 4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11460175" cy="91264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Resultados: 1 dedo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1 dedo (índice, S02+S03, 200ep):  R²=0.699  |  Pearson=0.837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fast_flex R²=0.892 — movimientos rápidos: mejor decodificados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holds_intermediate R²=0.310 — ambigüedad mecánica del joystick a resorte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reposo/ruido: MAE pequeño (0.02-0.06), R²→-∞ por var(target)≈0 — métrica mal condicionada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Oracle ensemble σ=50+σ=150: R²=0.734 — upper bound con modelos actuales</a:t>
            </a:r>
          </a:p>
        </p:txBody>
      </p:sp>
      <p:pic>
        <p:nvPicPr>
          <p:cNvPr id="5" name="Picture 4" descr="pred_vs_target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6858000" cy="3200400"/>
          </a:xfrm>
          <a:prstGeom prst="rect">
            <a:avLst/>
          </a:prstGeom>
        </p:spPr>
      </p:pic>
      <p:pic>
        <p:nvPicPr>
          <p:cNvPr id="6" name="Picture 5" descr="r2_by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47472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Resultados: 2 dedos simultáneos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2 dedos (índice + medio, S04–S07, 100ep):  avg R²=0.629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Índice: R²=0.599, Pearson=0.771  |  Medio: R²=0.659, Pearson=0.810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16 features de entrada (8 por dedo), output_dim=2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dedo medio aprende mejor — menos co-activación con otros dedos en las tareas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Competitivo con la literatura considerando solo 4 electrodos (vs HD-EMG de 8–150)</a:t>
            </a:r>
          </a:p>
        </p:txBody>
      </p:sp>
      <p:pic>
        <p:nvPicPr>
          <p:cNvPr id="5" name="Picture 4" descr="training_curve_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11460175" cy="1016640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Scatter predicción vs ground truth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ed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22960"/>
            <a:ext cx="5771863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371600"/>
            <a:ext cx="4480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Masa central en (0,0): el modelo aprende a quedarse quieto en reposo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Colas siguen la diagonal: la predicción sigue la dirección correcta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Dispersión mayor en slow/holds por la ambigüedad del joystick a resorte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E87722"/>
                </a:solidFill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90D9"/>
                </a:solidFill>
              </a:rPr>
              <a:t>python visualize.py --checkpoint checkpoints/tcn_s02s03_sig050_200ep/best.pt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0"/>
            <a:ext cx="114601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CCCC"/>
                </a:solidFill>
              </a:rPr>
              <a:t>Círculo verde = posición real (joystick)  ·  Círculo rojo = posición predicha (TCN)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931920"/>
            <a:ext cx="1146017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888888"/>
                </a:solidFill>
              </a:rPr>
              <a:t>[ pantalla completa con cámara del brazo + visualize.py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0"/>
            <a:ext cx="11460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— 10 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3017520"/>
            <a:ext cx="11460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87722"/>
                </a:solidFill>
              </a:rPr>
              <a:t>Conclusiones y trabajo futuro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Lo que aprendimos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6017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análisis de onsets fue la pieza clave: validó causalidad, definió el RF y guió la selección de features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Desenchufar la laptop eliminó los armónicos de 50Hz sin Notch — cambio de bajo costo, alto impacto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El σ del target era el cuello de botella: +0.083 R² solo cambiando el suavizado, sin tocar el modelo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Más bits de resolución ≠ mejor SNR: el ADS1256 captura más ruido sin un front-end analógico adecuado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TCN causal con RF≈400ms: predicción de velocidad en tiempo real viable con solo 4 electrodos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La EMA normalization aporta ~0.045 R² sobre RMS crudo (ablation en curso)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1146017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</a:rPr>
              <a:t>Trabajo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60175" cy="254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6017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Controlador: red neuronal sobre la TCN para cerrar el loop (RL online, reward = −|error_posición|)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Sensor flex: reemplazar joystick a resorte → elimina ambigüedad EMG→vel en holds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PCB dedicada: plano de tierra + alimentación separada analógico/digital → elimina ruido espurio ADS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Más sesiones y sujetos: generalización cross-session y cross-subject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</a:rPr>
              <a:t>• Construcción de la mano robótica: Parte 2 del proyecto original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